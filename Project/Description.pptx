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1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8" r:id="rId8"/>
    <p:sldId id="266" r:id="rId31"/>
  </p:sldIdLst>
  <p:sldSz cx="18288000" cy="10287000"/>
  <p:notesSz cx="6858000" cy="9144000"/>
  <p:embeddedFontLst>
    <p:embeddedFont>
      <p:font typeface="Georgia Bold" charset="1" panose="02040802050405020203"/>
      <p:regular r:id="rId19"/>
    </p:embeddedFont>
    <p:embeddedFont>
      <p:font typeface="Georgia" charset="1" panose="02040502050405020303"/>
      <p:regular r:id="rId20"/>
    </p:embeddedFont>
    <p:embeddedFont>
      <p:font typeface="Calibri (MS)" charset="1" panose="020F0502020204030204"/>
      <p:regular r:id="rId21"/>
    </p:embeddedFont>
    <p:embeddedFont>
      <p:font typeface="Calibri (MS) Bold" charset="1" panose="020F070203040403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8" Type="http://schemas.openxmlformats.org/officeDocument/2006/relationships/slide" Target="slides/slide3.xml"/><Relationship Id="rId16" Type="http://schemas.openxmlformats.org/officeDocument/2006/relationships/notesMaster" Target="notesMasters/notesMaster1.xml"/><Relationship Id="rId17" Type="http://schemas.openxmlformats.org/officeDocument/2006/relationships/theme" Target="theme/theme2.xml"/><Relationship Id="rId18" Type="http://schemas.openxmlformats.org/officeDocument/2006/relationships/notesSlide" Target="notesSlides/notesSlide1.xml"/><Relationship Id="rId19" Type="http://schemas.openxmlformats.org/officeDocument/2006/relationships/font" Target="fonts/font19.fntdata"/><Relationship Id="rId20" Type="http://schemas.openxmlformats.org/officeDocument/2006/relationships/font" Target="fonts/font20.fntdata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4" Type="http://schemas.openxmlformats.org/officeDocument/2006/relationships/notesSlide" Target="notesSlides/notesSlide3.xml"/>  <Relationship Id="rId31" Type="http://schemas.openxmlformats.org/officeDocument/2006/relationships/slide" Target="slides/slide11.xml"/>
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40480" y="-4114800"/>
            <a:ext cx="9875520" cy="9875520"/>
            <a:chOff x="0" y="0"/>
            <a:chExt cx="13167360" cy="131673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167361" cy="13167361"/>
            </a:xfrm>
            <a:custGeom>
              <a:avLst/>
              <a:gdLst/>
              <a:ahLst/>
              <a:cxnLst/>
              <a:rect r="r" b="b" t="t" l="l"/>
              <a:pathLst>
                <a:path h="13167361" w="13167361">
                  <a:moveTo>
                    <a:pt x="0" y="6583680"/>
                  </a:moveTo>
                  <a:cubicBezTo>
                    <a:pt x="0" y="2947670"/>
                    <a:pt x="2947670" y="0"/>
                    <a:pt x="6583680" y="0"/>
                  </a:cubicBezTo>
                  <a:cubicBezTo>
                    <a:pt x="10219691" y="0"/>
                    <a:pt x="13167361" y="2947670"/>
                    <a:pt x="13167361" y="6583680"/>
                  </a:cubicBezTo>
                  <a:cubicBezTo>
                    <a:pt x="13167361" y="10219691"/>
                    <a:pt x="10219691" y="13167361"/>
                    <a:pt x="6583680" y="13167361"/>
                  </a:cubicBezTo>
                  <a:cubicBezTo>
                    <a:pt x="2947670" y="13167361"/>
                    <a:pt x="0" y="10219690"/>
                    <a:pt x="0" y="6583680"/>
                  </a:cubicBezTo>
                  <a:close/>
                </a:path>
              </a:pathLst>
            </a:custGeom>
            <a:solidFill>
              <a:srgbClr val="C9D9E3">
                <a:alpha val="41961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618720" y="5760720"/>
            <a:ext cx="8778240" cy="8778240"/>
            <a:chOff x="0" y="0"/>
            <a:chExt cx="11704320" cy="117043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704320" cy="11704320"/>
            </a:xfrm>
            <a:custGeom>
              <a:avLst/>
              <a:gdLst/>
              <a:ahLst/>
              <a:cxnLst/>
              <a:rect r="r" b="b" t="t" l="l"/>
              <a:pathLst>
                <a:path h="11704320" w="11704320">
                  <a:moveTo>
                    <a:pt x="0" y="5852160"/>
                  </a:moveTo>
                  <a:cubicBezTo>
                    <a:pt x="0" y="2620137"/>
                    <a:pt x="2620137" y="0"/>
                    <a:pt x="5852160" y="0"/>
                  </a:cubicBezTo>
                  <a:cubicBezTo>
                    <a:pt x="9084183" y="0"/>
                    <a:pt x="11704320" y="2620137"/>
                    <a:pt x="11704320" y="5852160"/>
                  </a:cubicBezTo>
                  <a:cubicBezTo>
                    <a:pt x="11704320" y="9084183"/>
                    <a:pt x="9084183" y="11704320"/>
                    <a:pt x="5852160" y="11704320"/>
                  </a:cubicBezTo>
                  <a:cubicBezTo>
                    <a:pt x="2620137" y="11704320"/>
                    <a:pt x="0" y="9084183"/>
                    <a:pt x="0" y="5852160"/>
                  </a:cubicBezTo>
                  <a:close/>
                </a:path>
              </a:pathLst>
            </a:custGeom>
            <a:solidFill>
              <a:srgbClr val="B9CCD9">
                <a:alpha val="4196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538960" y="-3017520"/>
            <a:ext cx="5760720" cy="5760720"/>
            <a:chOff x="0" y="0"/>
            <a:chExt cx="7680960" cy="76809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80960" cy="7680960"/>
            </a:xfrm>
            <a:custGeom>
              <a:avLst/>
              <a:gdLst/>
              <a:ahLst/>
              <a:cxnLst/>
              <a:rect r="r" b="b" t="t" l="l"/>
              <a:pathLst>
                <a:path h="7680960" w="7680960">
                  <a:moveTo>
                    <a:pt x="0" y="3840480"/>
                  </a:moveTo>
                  <a:cubicBezTo>
                    <a:pt x="0" y="1719453"/>
                    <a:pt x="1719453" y="0"/>
                    <a:pt x="3840480" y="0"/>
                  </a:cubicBezTo>
                  <a:cubicBezTo>
                    <a:pt x="5961507" y="0"/>
                    <a:pt x="7680960" y="1719453"/>
                    <a:pt x="7680960" y="3840480"/>
                  </a:cubicBezTo>
                  <a:cubicBezTo>
                    <a:pt x="7680960" y="5961507"/>
                    <a:pt x="5961507" y="7680960"/>
                    <a:pt x="3840480" y="7680960"/>
                  </a:cubicBezTo>
                  <a:cubicBezTo>
                    <a:pt x="1719453" y="7680960"/>
                    <a:pt x="0" y="5961507"/>
                    <a:pt x="0" y="3840480"/>
                  </a:cubicBezTo>
                  <a:close/>
                </a:path>
              </a:pathLst>
            </a:custGeom>
            <a:solidFill>
              <a:srgbClr val="C9D9E3">
                <a:alpha val="41961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60120" y="754380"/>
            <a:ext cx="16322040" cy="1222028"/>
            <a:chOff x="0" y="0"/>
            <a:chExt cx="21762720" cy="16293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62720" cy="1629370"/>
            </a:xfrm>
            <a:custGeom>
              <a:avLst/>
              <a:gdLst/>
              <a:ahLst/>
              <a:cxnLst/>
              <a:rect r="r" b="b" t="t" l="l"/>
              <a:pathLst>
                <a:path h="162937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629370"/>
                  </a:lnTo>
                  <a:lnTo>
                    <a:pt x="0" y="16293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580" r="0" b="-19392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1762720" cy="1638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4F7089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High-Performance Text Searching using KMP Algorithm</a:t>
              </a:r>
            </a:p>
            <a:p>
              <a:pPr algn="ctr">
                <a:lnSpc>
                  <a:spcPts val="4320"/>
                </a:lnSpc>
              </a:pPr>
            </a:p>
          </p:txBody>
        </p:sp>
      </p:grp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2263140" y="2179320"/>
          <a:ext cx="13716000" cy="2590800"/>
        </p:xfrm>
        <a:graphic>
          <a:graphicData uri="http://schemas.openxmlformats.org/drawingml/2006/table">
            <a:tbl>
              <a:tblPr/>
              <a:tblGrid>
                <a:gridCol w="6858000"/>
                <a:gridCol w="6858000"/>
              </a:tblGrid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4F7089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Team Member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9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4F7089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Roll Number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9E1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5C4632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Vaishali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9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5C4632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2520030117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9E1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5C4632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Bindhu Madhavi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9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5C4632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2520030077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9E1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5C4632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Sri Kruthi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9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5C4632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2520030340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9E1"/>
                    </a:solidFill>
                  </a:tcPr>
                </a:tc>
              </a:tr>
            </a:tbl>
          </a:graphicData>
        </a:graphic>
      </p:graphicFrame>
      <p:grpSp>
        <p:nvGrpSpPr>
          <p:cNvPr name="Group 12" id="12"/>
          <p:cNvGrpSpPr/>
          <p:nvPr/>
        </p:nvGrpSpPr>
        <p:grpSpPr>
          <a:xfrm rot="0">
            <a:off x="960120" y="5966460"/>
            <a:ext cx="16322040" cy="480060"/>
            <a:chOff x="0" y="0"/>
            <a:chExt cx="21762720" cy="6400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762720" cy="640080"/>
            </a:xfrm>
            <a:custGeom>
              <a:avLst/>
              <a:gdLst/>
              <a:ahLst/>
              <a:cxnLst/>
              <a:rect r="r" b="b" t="t" l="l"/>
              <a:pathLst>
                <a:path h="64008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2491" r="0" b="-61249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2176272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7A655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Under the Guidance of  </a:t>
              </a:r>
              <a:r>
                <a:rPr lang="en-US" sz="1950" b="true">
                  <a:solidFill>
                    <a:srgbClr val="4F708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S. Madhavi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0120" y="6419088"/>
            <a:ext cx="16322040" cy="480060"/>
            <a:chOff x="0" y="0"/>
            <a:chExt cx="21762720" cy="6400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762720" cy="640080"/>
            </a:xfrm>
            <a:custGeom>
              <a:avLst/>
              <a:gdLst/>
              <a:ahLst/>
              <a:cxnLst/>
              <a:rect r="r" b="b" t="t" l="l"/>
              <a:pathLst>
                <a:path h="64008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2491" r="0" b="-61249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2176272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4F708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Department of Computer Science and Engineering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 rot="11880">
            <a:off x="6368396" y="7607618"/>
            <a:ext cx="5505479" cy="0"/>
          </a:xfrm>
          <a:prstGeom prst="line">
            <a:avLst/>
          </a:prstGeom>
          <a:ln cap="rnd" w="9525">
            <a:solidFill>
              <a:srgbClr val="B3C4D1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19" id="19"/>
          <p:cNvGrpSpPr/>
          <p:nvPr/>
        </p:nvGrpSpPr>
        <p:grpSpPr>
          <a:xfrm rot="0">
            <a:off x="960120" y="7886700"/>
            <a:ext cx="16322040" cy="548640"/>
            <a:chOff x="0" y="0"/>
            <a:chExt cx="2176272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7627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679" r="0" b="-52967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217627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b="true" sz="2250" spc="150">
                  <a:solidFill>
                    <a:srgbClr val="4F7089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KONERU LAKSHMAIAH EDUCATION FOUNDATION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60120" y="8435340"/>
            <a:ext cx="16322040" cy="411480"/>
            <a:chOff x="0" y="0"/>
            <a:chExt cx="2176272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7627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2906" r="0" b="-72290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17627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7A655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KLH Deemed to be University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5364063" y="5143500"/>
            <a:ext cx="7254657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sz="1999">
                <a:solidFill>
                  <a:srgbClr val="142D4E"/>
                </a:solidFill>
                <a:latin typeface="Aptos"/>
                <a:ea typeface="Georgia"/>
                <a:cs typeface="Georgia"/>
                <a:sym typeface="Georgia"/>
              </a:rPr>
              <a:t>Section: 7</a:t>
            </a:r>
          </a:p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sz="1999">
                <a:solidFill>
                  <a:srgbClr val="142D4E"/>
                </a:solidFill>
                <a:latin typeface="Aptos"/>
                <a:ea typeface="Georgia"/>
                <a:cs typeface="Georgia"/>
                <a:sym typeface="Georgia"/>
              </a:rPr>
              <a:t> Team: 18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8288000" cy="109728"/>
          </a:xfrm>
          <a:prstGeom prst="rect">
            <a:avLst/>
          </a:prstGeom>
          <a:solidFill>
            <a:srgbClr val="2C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7419320" y="210312"/>
            <a:ext cx="292608" cy="292608"/>
          </a:xfrm>
          <a:prstGeom prst="ellipse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D4E"/>
                </a:solidFill>
                <a:latin typeface="Aptos"/>
              </a:rPr>
              <a:t>✚</a:t>
            </a:r>
          </a:p>
        </p:txBody>
      </p:sp>
      <p:sp>
        <p:nvSpPr>
          <p:cNvPr id="28" name="Oval 27"/>
          <p:cNvSpPr/>
          <p:nvPr/>
        </p:nvSpPr>
        <p:spPr>
          <a:xfrm>
            <a:off x="17803368" y="210312"/>
            <a:ext cx="292608" cy="292608"/>
          </a:xfrm>
          <a:prstGeom prst="ellipse">
            <a:avLst/>
          </a:prstGeom>
          <a:solidFill>
            <a:srgbClr val="2C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D4E"/>
                </a:solidFill>
                <a:latin typeface="Aptos"/>
              </a:rPr>
              <a:t>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9966960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rPr>
                <a:solidFill>
                  <a:srgbClr val="142D4E"/>
                </a:solidFill>
                <a:latin typeface="Aptos"/>
              </a:rPr>
              <a:t>KLH • Computer Science &amp; Engineering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0" y="996696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5F6973"/>
                </a:solidFill>
              </a:defRPr>
            </a:pPr>
            <a:r>
              <a:rPr>
                <a:solidFill>
                  <a:srgbClr val="142D4E"/>
                </a:solidFill>
                <a:latin typeface="Aptos"/>
              </a:rPr>
              <a:t>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367760" y="1005840"/>
            <a:ext cx="1325880" cy="1325880"/>
          </a:xfrm>
          <a:prstGeom prst="roundRect">
            <a:avLst/>
          </a:prstGeom>
          <a:solidFill>
            <a:srgbClr val="E1EFFC"/>
          </a:solidFill>
          <a:ln>
            <a:solidFill>
              <a:srgbClr val="2C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400" b="1">
                <a:solidFill>
                  <a:srgbClr val="142D4E"/>
                </a:solidFill>
                <a:latin typeface="Aptos"/>
              </a:rPr>
              <a:t>✚</a:t>
            </a:r>
          </a:p>
          <a:p>
            <a:pPr algn="ctr"/>
            <a:r>
              <a:rPr sz="1600" b="1">
                <a:solidFill>
                  <a:srgbClr val="142D4E"/>
                </a:solidFill>
                <a:latin typeface="Aptos"/>
              </a:rPr>
              <a:t>⌕  KMP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7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40480" y="-4114800"/>
            <a:ext cx="9875520" cy="9875520"/>
            <a:chOff x="0" y="0"/>
            <a:chExt cx="13167360" cy="131673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167361" cy="13167361"/>
            </a:xfrm>
            <a:custGeom>
              <a:avLst/>
              <a:gdLst/>
              <a:ahLst/>
              <a:cxnLst/>
              <a:rect r="r" b="b" t="t" l="l"/>
              <a:pathLst>
                <a:path h="13167361" w="13167361">
                  <a:moveTo>
                    <a:pt x="0" y="6583680"/>
                  </a:moveTo>
                  <a:cubicBezTo>
                    <a:pt x="0" y="2947670"/>
                    <a:pt x="2947670" y="0"/>
                    <a:pt x="6583680" y="0"/>
                  </a:cubicBezTo>
                  <a:cubicBezTo>
                    <a:pt x="10219691" y="0"/>
                    <a:pt x="13167361" y="2947670"/>
                    <a:pt x="13167361" y="6583680"/>
                  </a:cubicBezTo>
                  <a:cubicBezTo>
                    <a:pt x="13167361" y="10219691"/>
                    <a:pt x="10219691" y="13167361"/>
                    <a:pt x="6583680" y="13167361"/>
                  </a:cubicBezTo>
                  <a:cubicBezTo>
                    <a:pt x="2947670" y="13167361"/>
                    <a:pt x="0" y="10219690"/>
                    <a:pt x="0" y="6583680"/>
                  </a:cubicBezTo>
                  <a:close/>
                </a:path>
              </a:pathLst>
            </a:custGeom>
            <a:solidFill>
              <a:srgbClr val="C9D9E3">
                <a:alpha val="41961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618720" y="5760720"/>
            <a:ext cx="8778240" cy="8778240"/>
            <a:chOff x="0" y="0"/>
            <a:chExt cx="11704320" cy="117043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704320" cy="11704320"/>
            </a:xfrm>
            <a:custGeom>
              <a:avLst/>
              <a:gdLst/>
              <a:ahLst/>
              <a:cxnLst/>
              <a:rect r="r" b="b" t="t" l="l"/>
              <a:pathLst>
                <a:path h="11704320" w="11704320">
                  <a:moveTo>
                    <a:pt x="0" y="5852160"/>
                  </a:moveTo>
                  <a:cubicBezTo>
                    <a:pt x="0" y="2620137"/>
                    <a:pt x="2620137" y="0"/>
                    <a:pt x="5852160" y="0"/>
                  </a:cubicBezTo>
                  <a:cubicBezTo>
                    <a:pt x="9084183" y="0"/>
                    <a:pt x="11704320" y="2620137"/>
                    <a:pt x="11704320" y="5852160"/>
                  </a:cubicBezTo>
                  <a:cubicBezTo>
                    <a:pt x="11704320" y="9084183"/>
                    <a:pt x="9084183" y="11704320"/>
                    <a:pt x="5852160" y="11704320"/>
                  </a:cubicBezTo>
                  <a:cubicBezTo>
                    <a:pt x="2620137" y="11704320"/>
                    <a:pt x="0" y="9084183"/>
                    <a:pt x="0" y="5852160"/>
                  </a:cubicBezTo>
                  <a:close/>
                </a:path>
              </a:pathLst>
            </a:custGeom>
            <a:solidFill>
              <a:srgbClr val="B9CCD9">
                <a:alpha val="4196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538960" y="-3017520"/>
            <a:ext cx="5760720" cy="5760720"/>
            <a:chOff x="0" y="0"/>
            <a:chExt cx="7680960" cy="76809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80960" cy="7680960"/>
            </a:xfrm>
            <a:custGeom>
              <a:avLst/>
              <a:gdLst/>
              <a:ahLst/>
              <a:cxnLst/>
              <a:rect r="r" b="b" t="t" l="l"/>
              <a:pathLst>
                <a:path h="7680960" w="7680960">
                  <a:moveTo>
                    <a:pt x="0" y="3840480"/>
                  </a:moveTo>
                  <a:cubicBezTo>
                    <a:pt x="0" y="1719453"/>
                    <a:pt x="1719453" y="0"/>
                    <a:pt x="3840480" y="0"/>
                  </a:cubicBezTo>
                  <a:cubicBezTo>
                    <a:pt x="5961507" y="0"/>
                    <a:pt x="7680960" y="1719453"/>
                    <a:pt x="7680960" y="3840480"/>
                  </a:cubicBezTo>
                  <a:cubicBezTo>
                    <a:pt x="7680960" y="5961507"/>
                    <a:pt x="5961507" y="7680960"/>
                    <a:pt x="3840480" y="7680960"/>
                  </a:cubicBezTo>
                  <a:cubicBezTo>
                    <a:pt x="1719453" y="7680960"/>
                    <a:pt x="0" y="5961507"/>
                    <a:pt x="0" y="3840480"/>
                  </a:cubicBezTo>
                  <a:close/>
                </a:path>
              </a:pathLst>
            </a:custGeom>
            <a:solidFill>
              <a:srgbClr val="C9D9E3">
                <a:alpha val="41961"/>
              </a:srgbClr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919320" y="813435"/>
            <a:ext cx="3923109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19"/>
              </a:lnSpc>
              <a:spcBef>
                <a:spcPct val="0"/>
              </a:spcBef>
            </a:pPr>
            <a:r>
              <a:rPr lang="en-US" b="true" sz="5099">
                <a:solidFill>
                  <a:srgbClr val="142D4E"/>
                </a:solidFill>
                <a:latin typeface="Aptos"/>
                <a:ea typeface="Georgia Bold"/>
                <a:cs typeface="Georgia Bold"/>
                <a:sym typeface="Georgia Bold"/>
              </a:rPr>
              <a:t>Description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73109" y="3739704"/>
            <a:ext cx="11541782" cy="403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3565" indent="-261783" lvl="1">
              <a:lnSpc>
                <a:spcPts val="2910"/>
              </a:lnSpc>
              <a:buFont typeface="Arial"/>
              <a:buChar char="•"/>
            </a:pPr>
            <a:r>
              <a:rPr lang="en-US" sz="2425">
                <a:solidFill>
                  <a:srgbClr val="142D4E"/>
                </a:solidFill>
                <a:latin typeface="Aptos"/>
                <a:ea typeface="Georgia"/>
                <a:cs typeface="Georgia"/>
                <a:sym typeface="Georgia"/>
              </a:rPr>
              <a:t>The user enters a pattern (search term) to be located in the text.</a:t>
            </a:r>
          </a:p>
          <a:p>
            <a:pPr algn="l" marL="523565" indent="-261783" lvl="1">
              <a:lnSpc>
                <a:spcPts val="2910"/>
              </a:lnSpc>
              <a:buFont typeface="Arial"/>
              <a:buChar char="•"/>
            </a:pPr>
            <a:r>
              <a:rPr lang="en-US" sz="2425">
                <a:solidFill>
                  <a:srgbClr val="142D4E"/>
                </a:solidFill>
                <a:latin typeface="Aptos"/>
                <a:ea typeface="Georgia"/>
                <a:cs typeface="Georgia"/>
                <a:sym typeface="Georgia"/>
              </a:rPr>
              <a:t>Text data is provided through text files or documents.</a:t>
            </a:r>
          </a:p>
          <a:p>
            <a:pPr algn="l" marL="523565" indent="-261783" lvl="1">
              <a:lnSpc>
                <a:spcPts val="2910"/>
              </a:lnSpc>
              <a:buFont typeface="Arial"/>
              <a:buChar char="•"/>
            </a:pPr>
            <a:r>
              <a:rPr lang="en-US" sz="2425">
                <a:solidFill>
                  <a:srgbClr val="142D4E"/>
                </a:solidFill>
                <a:latin typeface="Aptos"/>
                <a:ea typeface="Georgia"/>
                <a:cs typeface="Georgia"/>
                <a:sym typeface="Georgia"/>
              </a:rPr>
              <a:t>The system preprocesses the input pattern before searching.</a:t>
            </a:r>
          </a:p>
          <a:p>
            <a:pPr algn="l" marL="523565" indent="-261783" lvl="1">
              <a:lnSpc>
                <a:spcPts val="2910"/>
              </a:lnSpc>
              <a:buFont typeface="Arial"/>
              <a:buChar char="•"/>
            </a:pPr>
            <a:r>
              <a:rPr lang="en-US" sz="2425">
                <a:solidFill>
                  <a:srgbClr val="142D4E"/>
                </a:solidFill>
                <a:latin typeface="Aptos"/>
                <a:ea typeface="Georgia"/>
                <a:cs typeface="Georgia"/>
                <a:sym typeface="Georgia"/>
              </a:rPr>
              <a:t>Efficient searching algorithms are applied to find the required term.</a:t>
            </a:r>
          </a:p>
          <a:p>
            <a:pPr algn="l" marL="523565" indent="-261783" lvl="1">
              <a:lnSpc>
                <a:spcPts val="2910"/>
              </a:lnSpc>
              <a:buFont typeface="Arial"/>
              <a:buChar char="•"/>
            </a:pPr>
            <a:r>
              <a:rPr lang="en-US" sz="2425">
                <a:solidFill>
                  <a:srgbClr val="142D4E"/>
                </a:solidFill>
                <a:latin typeface="Aptos"/>
                <a:ea typeface="Georgia"/>
                <a:cs typeface="Georgia"/>
                <a:sym typeface="Georgia"/>
              </a:rPr>
              <a:t>The system identifies all matching occurrences in the text.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8288000" cy="109728"/>
          </a:xfrm>
          <a:prstGeom prst="rect">
            <a:avLst/>
          </a:prstGeom>
          <a:solidFill>
            <a:srgbClr val="2C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419320" y="210312"/>
            <a:ext cx="292608" cy="292608"/>
          </a:xfrm>
          <a:prstGeom prst="ellipse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D4E"/>
                </a:solidFill>
                <a:latin typeface="Aptos"/>
              </a:rPr>
              <a:t>✚</a:t>
            </a:r>
          </a:p>
        </p:txBody>
      </p:sp>
      <p:sp>
        <p:nvSpPr>
          <p:cNvPr id="12" name="Oval 11"/>
          <p:cNvSpPr/>
          <p:nvPr/>
        </p:nvSpPr>
        <p:spPr>
          <a:xfrm>
            <a:off x="17803368" y="210312"/>
            <a:ext cx="292608" cy="292608"/>
          </a:xfrm>
          <a:prstGeom prst="ellipse">
            <a:avLst/>
          </a:prstGeom>
          <a:solidFill>
            <a:srgbClr val="2C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D4E"/>
                </a:solidFill>
                <a:latin typeface="Aptos"/>
              </a:rPr>
              <a:t>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9966960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rPr>
                <a:solidFill>
                  <a:srgbClr val="142D4E"/>
                </a:solidFill>
                <a:latin typeface="Aptos"/>
              </a:rPr>
              <a:t>KLH • Computer Science &amp;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647920" y="996696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5F6973"/>
                </a:solidFill>
              </a:defRPr>
            </a:pPr>
            <a:r>
              <a:rPr>
                <a:solidFill>
                  <a:srgbClr val="142D4E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7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40480" y="-4114800"/>
            <a:ext cx="9875520" cy="9875520"/>
            <a:chOff x="0" y="0"/>
            <a:chExt cx="13167360" cy="131673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167361" cy="13167361"/>
            </a:xfrm>
            <a:custGeom>
              <a:avLst/>
              <a:gdLst/>
              <a:ahLst/>
              <a:cxnLst/>
              <a:rect r="r" b="b" t="t" l="l"/>
              <a:pathLst>
                <a:path h="13167361" w="13167361">
                  <a:moveTo>
                    <a:pt x="0" y="6583680"/>
                  </a:moveTo>
                  <a:cubicBezTo>
                    <a:pt x="0" y="2947670"/>
                    <a:pt x="2947670" y="0"/>
                    <a:pt x="6583680" y="0"/>
                  </a:cubicBezTo>
                  <a:cubicBezTo>
                    <a:pt x="10219691" y="0"/>
                    <a:pt x="13167361" y="2947670"/>
                    <a:pt x="13167361" y="6583680"/>
                  </a:cubicBezTo>
                  <a:cubicBezTo>
                    <a:pt x="13167361" y="10219691"/>
                    <a:pt x="10219691" y="13167361"/>
                    <a:pt x="6583680" y="13167361"/>
                  </a:cubicBezTo>
                  <a:cubicBezTo>
                    <a:pt x="2947670" y="13167361"/>
                    <a:pt x="0" y="10219690"/>
                    <a:pt x="0" y="6583680"/>
                  </a:cubicBezTo>
                  <a:close/>
                </a:path>
              </a:pathLst>
            </a:custGeom>
            <a:solidFill>
              <a:srgbClr val="C9D9E3">
                <a:alpha val="41961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618720" y="5760720"/>
            <a:ext cx="8778240" cy="8778240"/>
            <a:chOff x="0" y="0"/>
            <a:chExt cx="11704320" cy="117043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704320" cy="11704320"/>
            </a:xfrm>
            <a:custGeom>
              <a:avLst/>
              <a:gdLst/>
              <a:ahLst/>
              <a:cxnLst/>
              <a:rect r="r" b="b" t="t" l="l"/>
              <a:pathLst>
                <a:path h="11704320" w="11704320">
                  <a:moveTo>
                    <a:pt x="0" y="5852160"/>
                  </a:moveTo>
                  <a:cubicBezTo>
                    <a:pt x="0" y="2620137"/>
                    <a:pt x="2620137" y="0"/>
                    <a:pt x="5852160" y="0"/>
                  </a:cubicBezTo>
                  <a:cubicBezTo>
                    <a:pt x="9084183" y="0"/>
                    <a:pt x="11704320" y="2620137"/>
                    <a:pt x="11704320" y="5852160"/>
                  </a:cubicBezTo>
                  <a:cubicBezTo>
                    <a:pt x="11704320" y="9084183"/>
                    <a:pt x="9084183" y="11704320"/>
                    <a:pt x="5852160" y="11704320"/>
                  </a:cubicBezTo>
                  <a:cubicBezTo>
                    <a:pt x="2620137" y="11704320"/>
                    <a:pt x="0" y="9084183"/>
                    <a:pt x="0" y="5852160"/>
                  </a:cubicBezTo>
                  <a:close/>
                </a:path>
              </a:pathLst>
            </a:custGeom>
            <a:solidFill>
              <a:srgbClr val="B9CCD9">
                <a:alpha val="4196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538960" y="-3017520"/>
            <a:ext cx="5760720" cy="5760720"/>
            <a:chOff x="0" y="0"/>
            <a:chExt cx="7680960" cy="76809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80960" cy="7680960"/>
            </a:xfrm>
            <a:custGeom>
              <a:avLst/>
              <a:gdLst/>
              <a:ahLst/>
              <a:cxnLst/>
              <a:rect r="r" b="b" t="t" l="l"/>
              <a:pathLst>
                <a:path h="7680960" w="7680960">
                  <a:moveTo>
                    <a:pt x="0" y="3840480"/>
                  </a:moveTo>
                  <a:cubicBezTo>
                    <a:pt x="0" y="1719453"/>
                    <a:pt x="1719453" y="0"/>
                    <a:pt x="3840480" y="0"/>
                  </a:cubicBezTo>
                  <a:cubicBezTo>
                    <a:pt x="5961507" y="0"/>
                    <a:pt x="7680960" y="1719453"/>
                    <a:pt x="7680960" y="3840480"/>
                  </a:cubicBezTo>
                  <a:cubicBezTo>
                    <a:pt x="7680960" y="5961507"/>
                    <a:pt x="5961507" y="7680960"/>
                    <a:pt x="3840480" y="7680960"/>
                  </a:cubicBezTo>
                  <a:cubicBezTo>
                    <a:pt x="1719453" y="7680960"/>
                    <a:pt x="0" y="5961507"/>
                    <a:pt x="0" y="3840480"/>
                  </a:cubicBezTo>
                  <a:close/>
                </a:path>
              </a:pathLst>
            </a:custGeom>
            <a:solidFill>
              <a:srgbClr val="C9D9E3">
                <a:alpha val="41961"/>
              </a:srgbClr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919320" y="813435"/>
            <a:ext cx="3923109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19"/>
              </a:lnSpc>
              <a:spcBef>
                <a:spcPct val="0"/>
              </a:spcBef>
            </a:pPr>
            <a:r>
              <a:rPr lang="en-US" b="true" sz="5099">
                <a:solidFill>
                  <a:srgbClr val="142D4E"/>
                </a:solidFill>
                <a:latin typeface="Aptos"/>
                <a:ea typeface="Georgia Bold"/>
                <a:cs typeface="Georgia Bold"/>
                <a:sym typeface="Georgia Bold"/>
              </a:rPr>
              <a:t>Description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73109" y="3739704"/>
            <a:ext cx="11541782" cy="403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3565" indent="-261783" lvl="1">
              <a:lnSpc>
                <a:spcPts val="2910"/>
              </a:lnSpc>
              <a:buFont typeface="Arial"/>
              <a:buChar char="•"/>
            </a:pPr>
            <a:r>
              <a:rPr lang="en-US" sz="2425">
                <a:solidFill>
                  <a:srgbClr val="142D4E"/>
                </a:solidFill>
                <a:latin typeface="Aptos"/>
                <a:ea typeface="Georgia"/>
                <a:cs typeface="Georgia"/>
                <a:sym typeface="Georgia"/>
              </a:rPr>
              <a:t>The positions of the matching terms are displayed.</a:t>
            </a:r>
          </a:p>
          <a:p>
            <a:pPr algn="l" marL="523565" indent="-261783" lvl="1">
              <a:lnSpc>
                <a:spcPts val="2910"/>
              </a:lnSpc>
              <a:buFont typeface="Arial"/>
              <a:buChar char="•"/>
            </a:pPr>
            <a:r>
              <a:rPr lang="en-US" sz="2425">
                <a:solidFill>
                  <a:srgbClr val="142D4E"/>
                </a:solidFill>
                <a:latin typeface="Aptos"/>
                <a:ea typeface="Georgia"/>
                <a:cs typeface="Georgia"/>
                <a:sym typeface="Georgia"/>
              </a:rPr>
              <a:t>The searching performance is analyzed based on execution time and efficiency.</a:t>
            </a:r>
          </a:p>
          <a:p>
            <a:pPr algn="l" marL="523565" indent="-261783" lvl="1">
              <a:lnSpc>
                <a:spcPts val="2910"/>
              </a:lnSpc>
              <a:buFont typeface="Arial"/>
              <a:buChar char="•"/>
            </a:pPr>
            <a:r>
              <a:rPr lang="en-US" sz="2425">
                <a:solidFill>
                  <a:srgbClr val="142D4E"/>
                </a:solidFill>
                <a:latin typeface="Aptos"/>
                <a:ea typeface="Georgia"/>
                <a:cs typeface="Georgia"/>
                <a:sym typeface="Georgia"/>
              </a:rPr>
              <a:t>The system can process large text datasets without unnecessary comparisons.</a:t>
            </a:r>
          </a:p>
          <a:p>
            <a:pPr algn="l" marL="523565" indent="-261783" lvl="1">
              <a:lnSpc>
                <a:spcPts val="2910"/>
              </a:lnSpc>
              <a:buFont typeface="Arial"/>
              <a:buChar char="•"/>
            </a:pPr>
            <a:r>
              <a:rPr lang="en-US" sz="2425">
                <a:solidFill>
                  <a:srgbClr val="142D4E"/>
                </a:solidFill>
                <a:latin typeface="Aptos"/>
                <a:ea typeface="Georgia"/>
                <a:cs typeface="Georgia"/>
                <a:sym typeface="Georgia"/>
              </a:rPr>
              <a:t>The search results help users quickly locate relevant information within the available documents.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8288000" cy="109728"/>
          </a:xfrm>
          <a:prstGeom prst="rect">
            <a:avLst/>
          </a:prstGeom>
          <a:solidFill>
            <a:srgbClr val="2C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419320" y="210312"/>
            <a:ext cx="292608" cy="292608"/>
          </a:xfrm>
          <a:prstGeom prst="ellipse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D4E"/>
                </a:solidFill>
                <a:latin typeface="Aptos"/>
              </a:rPr>
              <a:t>✚</a:t>
            </a:r>
          </a:p>
        </p:txBody>
      </p:sp>
      <p:sp>
        <p:nvSpPr>
          <p:cNvPr id="12" name="Oval 11"/>
          <p:cNvSpPr/>
          <p:nvPr/>
        </p:nvSpPr>
        <p:spPr>
          <a:xfrm>
            <a:off x="17803368" y="210312"/>
            <a:ext cx="292608" cy="292608"/>
          </a:xfrm>
          <a:prstGeom prst="ellipse">
            <a:avLst/>
          </a:prstGeom>
          <a:solidFill>
            <a:srgbClr val="2C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D4E"/>
                </a:solidFill>
                <a:latin typeface="Aptos"/>
              </a:rPr>
              <a:t>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9966960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rPr>
                <a:solidFill>
                  <a:srgbClr val="142D4E"/>
                </a:solidFill>
                <a:latin typeface="Aptos"/>
              </a:rPr>
              <a:t>KLH • Computer Science &amp;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647920" y="996696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5F6973"/>
                </a:solidFill>
              </a:defRPr>
            </a:pPr>
            <a:r>
              <a:rPr>
                <a:solidFill>
                  <a:srgbClr val="142D4E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DAHU5sRfZH4</dc:identifier>
  <dcterms:modified xsi:type="dcterms:W3CDTF">2011-08-01T06:04:30Z</dcterms:modified>
  <cp:revision>1</cp:revision>
  <dc:title>High-Performance-Text-Searching-KMP (1).pptx</dc:title>
</cp:coreProperties>
</file>